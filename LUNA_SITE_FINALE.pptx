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18288" cy="1828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731520"/>
            <a:ext cx="18288" cy="1828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274320"/>
            <a:ext cx="18288" cy="1828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1005840"/>
            <a:ext cx="18288" cy="1828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0" y="457200"/>
            <a:ext cx="18288" cy="1828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94960" y="822960"/>
            <a:ext cx="18288" cy="1828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182880"/>
            <a:ext cx="18288" cy="1828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0" y="640080"/>
            <a:ext cx="18288" cy="1828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365760"/>
            <a:ext cx="18288" cy="1828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1097280"/>
            <a:ext cx="18288" cy="1828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371600"/>
            <a:ext cx="18288" cy="1828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45920" y="1920240"/>
            <a:ext cx="18288" cy="1828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34640" y="1645920"/>
            <a:ext cx="18288" cy="1828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31920" y="2286000"/>
            <a:ext cx="18288" cy="1828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1737360"/>
            <a:ext cx="18288" cy="1828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2103120"/>
            <a:ext cx="18288" cy="1828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1463040"/>
            <a:ext cx="18288" cy="1828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2743200"/>
            <a:ext cx="18288" cy="1828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3200400"/>
            <a:ext cx="18288" cy="1828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0" y="3840480"/>
            <a:ext cx="18288" cy="1828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0" y="3474720"/>
            <a:ext cx="18288" cy="1828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4114800"/>
            <a:ext cx="18288" cy="1828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0" y="3566160"/>
            <a:ext cx="18288" cy="1828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95360" y="3749040"/>
            <a:ext cx="18288" cy="1828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71600" y="4389120"/>
            <a:ext cx="18288" cy="1828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0" y="4663440"/>
            <a:ext cx="18288" cy="1828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0" y="4846320"/>
            <a:ext cx="18288" cy="1828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23760" y="4572000"/>
            <a:ext cx="18288" cy="18288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1097280"/>
            <a:ext cx="7863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spc="800" kern="0" dirty="0">
                <a:solidFill>
                  <a:srgbClr val="00D4FF"/>
                </a:solidFill>
              </a:rPr>
              <a:t>LUNA-SITE</a:t>
            </a:r>
            <a:endParaRPr lang="en-US" sz="6200" dirty="0"/>
          </a:p>
        </p:txBody>
      </p:sp>
      <p:sp>
        <p:nvSpPr>
          <p:cNvPr id="31" name="Text 29"/>
          <p:cNvSpPr/>
          <p:nvPr/>
        </p:nvSpPr>
        <p:spPr>
          <a:xfrm>
            <a:off x="914400" y="21488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spc="200" kern="0" dirty="0">
                <a:solidFill>
                  <a:srgbClr val="C8E0FF"/>
                </a:solidFill>
              </a:rPr>
              <a:t>Lunar South Pole Ice &amp; Terrain Evaluation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2286000" y="2633472"/>
            <a:ext cx="4572000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914400" y="2743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890"/>
                </a:solidFill>
              </a:rPr>
              <a:t>Bharatiya Antariksh Hackathon 2026  ·  Challenge 8  ·  Chandrayaan-4 Mission Support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3383280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00D4FF">
              <a:alpha val="15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383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4FF"/>
                </a:solidFill>
              </a:rPr>
              <a:t>21-Layer AI Pipeline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148840" y="3383280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00D4FF">
              <a:alpha val="15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48840" y="3383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4FF"/>
                </a:solidFill>
              </a:rPr>
              <a:t>Physics-Regularized CNN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794760" y="3383280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00D4FF">
              <a:alpha val="15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94760" y="3383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4FF"/>
                </a:solidFill>
              </a:rPr>
              <a:t>NSGA-II Optimiser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440680" y="3383280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00D4FF">
              <a:alpha val="15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40680" y="3383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4FF"/>
                </a:solidFill>
              </a:rPr>
              <a:t>RRT* Rover Planner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7086600" y="3383280"/>
            <a:ext cx="1463040" cy="274320"/>
          </a:xfrm>
          <a:prstGeom prst="roundRect">
            <a:avLst>
              <a:gd name="adj" fmla="val 20000"/>
            </a:avLst>
          </a:prstGeom>
          <a:solidFill>
            <a:srgbClr val="00D4FF">
              <a:alpha val="15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86600" y="3383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4FF"/>
                </a:solidFill>
              </a:rPr>
              <a:t>ISRO DFSAR Data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914400" y="443484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890"/>
                </a:solidFill>
              </a:rPr>
              <a:t>TEAM LUNA-SITE  |  Delhi Technological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417320" cy="201168"/>
          </a:xfrm>
          <a:prstGeom prst="roundRect">
            <a:avLst>
              <a:gd name="adj" fmla="val 22727"/>
            </a:avLst>
          </a:prstGeom>
          <a:solidFill>
            <a:srgbClr val="00D4FF">
              <a:alpha val="18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D4FF"/>
                </a:solidFill>
              </a:rPr>
              <a:t>THE PROBLEM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finding lunar ice is harder than it sounds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743200" cy="3246120"/>
          </a:xfrm>
          <a:prstGeom prst="roundRect">
            <a:avLst>
              <a:gd name="adj" fmla="val 3333"/>
            </a:avLst>
          </a:prstGeom>
          <a:solidFill>
            <a:srgbClr val="0D1B2E"/>
          </a:solidFill>
          <a:ln w="12700">
            <a:solidFill>
              <a:srgbClr val="FF4B4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97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4B4B"/>
                </a:solidFill>
              </a:rPr>
              <a:t>👁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4B4B"/>
                </a:solidFill>
              </a:rPr>
              <a:t>The Optical Paradox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" y="1975104"/>
            <a:ext cx="2414016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8E0FF"/>
                </a:solidFill>
              </a:rPr>
              <a:t>Permanently Shadowed Regions (PSRs) are the most likely places to find water ice — but no camera can see into them. They exist at –248 °C with zero photon flux. Every team that deploys YOLO inside a PSR has already lost.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43200" cy="3246120"/>
          </a:xfrm>
          <a:prstGeom prst="roundRect">
            <a:avLst>
              <a:gd name="adj" fmla="val 3333"/>
            </a:avLst>
          </a:prstGeom>
          <a:solidFill>
            <a:srgbClr val="0D1B2E"/>
          </a:solidFill>
          <a:ln w="12700">
            <a:solidFill>
              <a:srgbClr val="FAC77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097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AC775"/>
                </a:solidFill>
              </a:rPr>
              <a:t>🧠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37560" y="1554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C775"/>
                </a:solidFill>
              </a:rPr>
              <a:t>The Black Box AI Trap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64992" y="1975104"/>
            <a:ext cx="2414016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8E0FF"/>
                </a:solidFill>
              </a:rPr>
              <a:t>Sending a CNN result to ISRO without physics justification will be rejected. Decisions about landing sites must be explainable to scientists. CPR, DOP, and Grad-CAM heatmaps are not optional extras — they are the product.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80760" y="1005840"/>
            <a:ext cx="2743200" cy="3246120"/>
          </a:xfrm>
          <a:prstGeom prst="roundRect">
            <a:avLst>
              <a:gd name="adj" fmla="val 3333"/>
            </a:avLst>
          </a:prstGeom>
          <a:solidFill>
            <a:srgbClr val="0D1B2E"/>
          </a:solidFill>
          <a:ln w="12700">
            <a:solidFill>
              <a:srgbClr val="7F77D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80760" y="1097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F77DD"/>
                </a:solidFill>
              </a:rPr>
              <a:t>⏱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17920" y="1554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77DD"/>
                </a:solidFill>
              </a:rPr>
              <a:t>The 30-Hour Compute Trap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45352" y="1975104"/>
            <a:ext cx="2414016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8E0FF"/>
                </a:solidFill>
              </a:rPr>
              <a:t>Full-mission NSGA-II + RRT* over a 512×512 DEM takes 48+ hours on CPU. Teams that leave global optimisation to the finale will fail. All heavy computation must be pre-computed.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446227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D4FF"/>
                </a:solidFill>
              </a:rPr>
              <a:t>LUNA-SITE was designed to solve all three of these traps.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417320" cy="201168"/>
          </a:xfrm>
          <a:prstGeom prst="roundRect">
            <a:avLst>
              <a:gd name="adj" fmla="val 22727"/>
            </a:avLst>
          </a:prstGeom>
          <a:solidFill>
            <a:srgbClr val="00D4FF">
              <a:alpha val="18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D4FF"/>
                </a:solidFill>
              </a:rPr>
              <a:t>21-LAYER ARCHITECTURE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Five phases, one unified pipeline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1572768" cy="3291840"/>
          </a:xfrm>
          <a:prstGeom prst="roundRect">
            <a:avLst>
              <a:gd name="adj" fmla="val 5814"/>
            </a:avLst>
          </a:prstGeom>
          <a:solidFill>
            <a:srgbClr val="378ADD">
              <a:alpha val="10000"/>
            </a:srgbClr>
          </a:solidFill>
          <a:ln w="12700">
            <a:solidFill>
              <a:srgbClr val="378AD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02412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78ADD"/>
                </a:solidFill>
              </a:rPr>
              <a:t>L0–L2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1752" y="123444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1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Data Ingestion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1792224"/>
            <a:ext cx="1389888" cy="384048"/>
          </a:xfrm>
          <a:prstGeom prst="roundRect">
            <a:avLst>
              <a:gd name="adj" fmla="val 14286"/>
            </a:avLst>
          </a:prstGeom>
          <a:solidFill>
            <a:srgbClr val="060C18"/>
          </a:solidFill>
          <a:ln w="5080">
            <a:solidFill>
              <a:srgbClr val="378A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792224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E0FF"/>
                </a:solidFill>
              </a:rPr>
              <a:t>DFSAR Stokes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2295144"/>
            <a:ext cx="1389888" cy="384048"/>
          </a:xfrm>
          <a:prstGeom prst="roundRect">
            <a:avLst>
              <a:gd name="adj" fmla="val 14286"/>
            </a:avLst>
          </a:prstGeom>
          <a:solidFill>
            <a:srgbClr val="060C18"/>
          </a:solidFill>
          <a:ln w="5080">
            <a:solidFill>
              <a:srgbClr val="378A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295144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E0FF"/>
                </a:solidFill>
              </a:rPr>
              <a:t>LOLA DEM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" y="2798064"/>
            <a:ext cx="1389888" cy="384048"/>
          </a:xfrm>
          <a:prstGeom prst="roundRect">
            <a:avLst>
              <a:gd name="adj" fmla="val 14286"/>
            </a:avLst>
          </a:prstGeom>
          <a:solidFill>
            <a:srgbClr val="060C18"/>
          </a:solidFill>
          <a:ln w="5080">
            <a:solidFill>
              <a:srgbClr val="378A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798064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E0FF"/>
                </a:solidFill>
              </a:rPr>
              <a:t>SPICE illum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801368" y="2606040"/>
            <a:ext cx="182880" cy="0"/>
          </a:xfrm>
          <a:prstGeom prst="line">
            <a:avLst/>
          </a:prstGeom>
          <a:noFill/>
          <a:ln w="15240">
            <a:solidFill>
              <a:srgbClr val="378A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84248" y="960120"/>
            <a:ext cx="1572768" cy="3291840"/>
          </a:xfrm>
          <a:prstGeom prst="roundRect">
            <a:avLst>
              <a:gd name="adj" fmla="val 5814"/>
            </a:avLst>
          </a:prstGeom>
          <a:solidFill>
            <a:srgbClr val="00D4FF">
              <a:alpha val="10000"/>
            </a:srgbClr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984248" y="102412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L3–L9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057400" y="123444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2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Ice Detection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075688" y="1792224"/>
            <a:ext cx="1389888" cy="384048"/>
          </a:xfrm>
          <a:prstGeom prst="roundRect">
            <a:avLst>
              <a:gd name="adj" fmla="val 14286"/>
            </a:avLst>
          </a:prstGeom>
          <a:solidFill>
            <a:srgbClr val="060C18"/>
          </a:solidFill>
          <a:ln w="508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75688" y="1792224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E0FF"/>
                </a:solidFill>
              </a:rPr>
              <a:t>CPR/DOP gate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075688" y="2295144"/>
            <a:ext cx="1389888" cy="384048"/>
          </a:xfrm>
          <a:prstGeom prst="roundRect">
            <a:avLst>
              <a:gd name="adj" fmla="val 14286"/>
            </a:avLst>
          </a:prstGeom>
          <a:solidFill>
            <a:srgbClr val="060C18"/>
          </a:solidFill>
          <a:ln w="508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75688" y="2295144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E0FF"/>
                </a:solidFill>
              </a:rPr>
              <a:t>Physics-reg. CNN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075688" y="2798064"/>
            <a:ext cx="1389888" cy="384048"/>
          </a:xfrm>
          <a:prstGeom prst="roundRect">
            <a:avLst>
              <a:gd name="adj" fmla="val 14286"/>
            </a:avLst>
          </a:prstGeom>
          <a:solidFill>
            <a:srgbClr val="060C18"/>
          </a:solidFill>
          <a:ln w="5080">
            <a:solidFill>
              <a:srgbClr val="00D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75688" y="2798064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E0FF"/>
                </a:solidFill>
              </a:rPr>
              <a:t>MC Dropout + XAI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557016" y="2606040"/>
            <a:ext cx="182880" cy="0"/>
          </a:xfrm>
          <a:prstGeom prst="line">
            <a:avLst/>
          </a:prstGeom>
          <a:noFill/>
          <a:ln w="15240">
            <a:solidFill>
              <a:srgbClr val="00D4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39896" y="960120"/>
            <a:ext cx="1572768" cy="3291840"/>
          </a:xfrm>
          <a:prstGeom prst="roundRect">
            <a:avLst>
              <a:gd name="adj" fmla="val 5814"/>
            </a:avLst>
          </a:prstGeom>
          <a:solidFill>
            <a:srgbClr val="FAC775">
              <a:alpha val="10000"/>
            </a:srgbClr>
          </a:solidFill>
          <a:ln w="12700">
            <a:solidFill>
              <a:srgbClr val="FAC77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739896" y="102412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AC775"/>
                </a:solidFill>
              </a:rPr>
              <a:t>L10–L13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813048" y="123444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3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Hazard Mapping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831336" y="1792224"/>
            <a:ext cx="1389888" cy="384048"/>
          </a:xfrm>
          <a:prstGeom prst="roundRect">
            <a:avLst>
              <a:gd name="adj" fmla="val 14286"/>
            </a:avLst>
          </a:prstGeom>
          <a:solidFill>
            <a:srgbClr val="060C18"/>
          </a:solidFill>
          <a:ln w="5080">
            <a:solidFill>
              <a:srgbClr val="FAC77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31336" y="1792224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E0FF"/>
                </a:solidFill>
              </a:rPr>
              <a:t>Dual-zone YOLO/DEM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831336" y="2295144"/>
            <a:ext cx="1389888" cy="384048"/>
          </a:xfrm>
          <a:prstGeom prst="roundRect">
            <a:avLst>
              <a:gd name="adj" fmla="val 14286"/>
            </a:avLst>
          </a:prstGeom>
          <a:solidFill>
            <a:srgbClr val="060C18"/>
          </a:solidFill>
          <a:ln w="5080">
            <a:solidFill>
              <a:srgbClr val="FAC7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31336" y="2295144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E0FF"/>
                </a:solidFill>
              </a:rPr>
              <a:t>Traversability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831336" y="2798064"/>
            <a:ext cx="1389888" cy="384048"/>
          </a:xfrm>
          <a:prstGeom prst="roundRect">
            <a:avLst>
              <a:gd name="adj" fmla="val 14286"/>
            </a:avLst>
          </a:prstGeom>
          <a:solidFill>
            <a:srgbClr val="060C18"/>
          </a:solidFill>
          <a:ln w="5080">
            <a:solidFill>
              <a:srgbClr val="FAC77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31336" y="2798064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E0FF"/>
                </a:solidFill>
              </a:rPr>
              <a:t>Earth visibility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312664" y="2606040"/>
            <a:ext cx="182880" cy="0"/>
          </a:xfrm>
          <a:prstGeom prst="line">
            <a:avLst/>
          </a:prstGeom>
          <a:noFill/>
          <a:ln w="15240">
            <a:solidFill>
              <a:srgbClr val="FAC77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95544" y="960120"/>
            <a:ext cx="1572768" cy="3291840"/>
          </a:xfrm>
          <a:prstGeom prst="roundRect">
            <a:avLst>
              <a:gd name="adj" fmla="val 5814"/>
            </a:avLst>
          </a:prstGeom>
          <a:solidFill>
            <a:srgbClr val="1D9E75">
              <a:alpha val="10000"/>
            </a:srgbClr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495544" y="102412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L14–L16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568696" y="123444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4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Site Selection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586984" y="1792224"/>
            <a:ext cx="1389888" cy="384048"/>
          </a:xfrm>
          <a:prstGeom prst="roundRect">
            <a:avLst>
              <a:gd name="adj" fmla="val 14286"/>
            </a:avLst>
          </a:prstGeom>
          <a:solidFill>
            <a:srgbClr val="060C18"/>
          </a:solidFill>
          <a:ln w="5080">
            <a:solidFill>
              <a:srgbClr val="1D9E7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86984" y="1792224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E0FF"/>
                </a:solidFill>
              </a:rPr>
              <a:t>ISRU potential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586984" y="2295144"/>
            <a:ext cx="1389888" cy="384048"/>
          </a:xfrm>
          <a:prstGeom prst="roundRect">
            <a:avLst>
              <a:gd name="adj" fmla="val 14286"/>
            </a:avLst>
          </a:prstGeom>
          <a:solidFill>
            <a:srgbClr val="060C18"/>
          </a:solidFill>
          <a:ln w="5080">
            <a:solidFill>
              <a:srgbClr val="1D9E7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86984" y="2295144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E0FF"/>
                </a:solidFill>
              </a:rPr>
              <a:t>NSGA-II Pareto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586984" y="2798064"/>
            <a:ext cx="1389888" cy="384048"/>
          </a:xfrm>
          <a:prstGeom prst="roundRect">
            <a:avLst>
              <a:gd name="adj" fmla="val 14286"/>
            </a:avLst>
          </a:prstGeom>
          <a:solidFill>
            <a:srgbClr val="060C18"/>
          </a:solidFill>
          <a:ln w="5080">
            <a:solidFill>
              <a:srgbClr val="1D9E7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86984" y="2798064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E0FF"/>
                </a:solidFill>
              </a:rPr>
              <a:t>Multi-rover assign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068312" y="2606040"/>
            <a:ext cx="182880" cy="0"/>
          </a:xfrm>
          <a:prstGeom prst="line">
            <a:avLst/>
          </a:prstGeom>
          <a:noFill/>
          <a:ln w="15240">
            <a:solidFill>
              <a:srgbClr val="1D9E7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251192" y="960120"/>
            <a:ext cx="1572768" cy="3291840"/>
          </a:xfrm>
          <a:prstGeom prst="roundRect">
            <a:avLst>
              <a:gd name="adj" fmla="val 5814"/>
            </a:avLst>
          </a:prstGeom>
          <a:solidFill>
            <a:srgbClr val="7F77DD">
              <a:alpha val="10000"/>
            </a:srgbClr>
          </a:solidFill>
          <a:ln w="12700">
            <a:solidFill>
              <a:srgbClr val="7F77D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251192" y="102412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F77DD"/>
                </a:solidFill>
              </a:rPr>
              <a:t>L17–L20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324344" y="1234440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5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Rover Plan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342632" y="1792224"/>
            <a:ext cx="1389888" cy="384048"/>
          </a:xfrm>
          <a:prstGeom prst="roundRect">
            <a:avLst>
              <a:gd name="adj" fmla="val 14286"/>
            </a:avLst>
          </a:prstGeom>
          <a:solidFill>
            <a:srgbClr val="060C18"/>
          </a:solidFill>
          <a:ln w="5080">
            <a:solidFill>
              <a:srgbClr val="7F77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42632" y="1792224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E0FF"/>
                </a:solidFill>
              </a:rPr>
              <a:t>Energy RRT*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342632" y="2295144"/>
            <a:ext cx="1389888" cy="384048"/>
          </a:xfrm>
          <a:prstGeom prst="roundRect">
            <a:avLst>
              <a:gd name="adj" fmla="val 14286"/>
            </a:avLst>
          </a:prstGeom>
          <a:solidFill>
            <a:srgbClr val="060C18"/>
          </a:solidFill>
          <a:ln w="5080">
            <a:solidFill>
              <a:srgbClr val="7F77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42632" y="2295144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E0FF"/>
                </a:solidFill>
              </a:rPr>
              <a:t>DWA local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342632" y="2798064"/>
            <a:ext cx="1389888" cy="384048"/>
          </a:xfrm>
          <a:prstGeom prst="roundRect">
            <a:avLst>
              <a:gd name="adj" fmla="val 14286"/>
            </a:avLst>
          </a:prstGeom>
          <a:solidFill>
            <a:srgbClr val="060C18"/>
          </a:solidFill>
          <a:ln w="5080">
            <a:solidFill>
              <a:srgbClr val="7F77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42632" y="2798064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E0FF"/>
                </a:solidFill>
              </a:rPr>
              <a:t>Gazebo twin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365760" y="434340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6890"/>
                </a:solidFill>
              </a:rPr>
              <a:t>KEY INNOVATIONS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65760" y="450799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D4FF"/>
                </a:solidFill>
              </a:rPr>
              <a:t>✓  Dual-zone YOLO/radar switch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2542032" y="450799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D4FF"/>
                </a:solidFill>
              </a:rPr>
              <a:t>✓  Physics-regularized CNN (not a black box)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4718304" y="450799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D4FF"/>
                </a:solidFill>
              </a:rPr>
              <a:t>✓  Hungarian tracker (not DeepSORT)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894576" y="450799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D4FF"/>
                </a:solidFill>
              </a:rPr>
              <a:t>✓  75th-percentile depth bounds (not point estimates)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417320" cy="201168"/>
          </a:xfrm>
          <a:prstGeom prst="roundRect">
            <a:avLst>
              <a:gd name="adj" fmla="val 22727"/>
            </a:avLst>
          </a:prstGeom>
          <a:solidFill>
            <a:srgbClr val="00D4FF">
              <a:alpha val="18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D4FF"/>
                </a:solidFill>
              </a:rPr>
              <a:t>LAYERS 3–8  |  ICE DETECTION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From radar backscatter to confidence-bounded ice maps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474720" cy="3291840"/>
          </a:xfrm>
          <a:prstGeom prst="roundRect">
            <a:avLst>
              <a:gd name="adj" fmla="val 2778"/>
            </a:avLst>
          </a:prstGeom>
          <a:solidFill>
            <a:srgbClr val="0D1B2E"/>
          </a:solidFill>
          <a:ln w="63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2412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Physics Gate — Layer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CPR = (S₁ – S₄) / (S₁ + S₄)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3619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890"/>
                </a:solidFill>
              </a:rPr>
              <a:t>Circular Polarisation Ratio  →  ice &gt;1.0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DOP = √(S₂²+S₃²+S₄²) / S₁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15798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890"/>
                </a:solidFill>
              </a:rPr>
              <a:t>Degree of Polarisation  →  ice &lt;0.13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02920" y="2542032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Ice gate:  CPR &gt; 1.0  AND  DOP &lt; 0.13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77977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890"/>
                </a:solidFill>
              </a:rPr>
              <a:t>Both criteria must be met simultaneously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02920" y="316382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λ / (4π √ε′ · tan δ)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340156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890"/>
                </a:solidFill>
              </a:rPr>
              <a:t>Depth penetration equation (Layer 8 bounds)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160520" y="960120"/>
            <a:ext cx="4663440" cy="1024128"/>
          </a:xfrm>
          <a:prstGeom prst="roundRect">
            <a:avLst>
              <a:gd name="adj" fmla="val 7143"/>
            </a:avLst>
          </a:prstGeom>
          <a:solidFill>
            <a:srgbClr val="0D1B2E"/>
          </a:solidFill>
          <a:ln w="63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297680" y="103327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FF"/>
                </a:solidFill>
              </a:rPr>
              <a:t>Physics-Regularized CNN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297680" y="1252728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0FF"/>
                </a:solidFill>
              </a:rPr>
              <a:t>4-channel Stokes → 3 classes (Ice/Rock/Regolith). Loss = CrossEntropy + λ·Physics_Penalty. NOT called a PINN — a PINN requires PDE embedding via autodiff. This is accurately described as physics-regularized.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60520" y="2075688"/>
            <a:ext cx="4663440" cy="1024128"/>
          </a:xfrm>
          <a:prstGeom prst="roundRect">
            <a:avLst>
              <a:gd name="adj" fmla="val 7143"/>
            </a:avLst>
          </a:prstGeom>
          <a:solidFill>
            <a:srgbClr val="0D1B2E"/>
          </a:solidFill>
          <a:ln w="635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297680" y="214884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F88"/>
                </a:solidFill>
              </a:rPr>
              <a:t>MC Dropout (50 passes)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297680" y="2368296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0FF"/>
                </a:solidFill>
              </a:rPr>
              <a:t>Dropout ON during inference. 50 stochastic forward passes → mean probability, epistemic variance, predictive entropy. Uncertainty maps shown alongside every prediction.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160520" y="3191256"/>
            <a:ext cx="4663440" cy="1024128"/>
          </a:xfrm>
          <a:prstGeom prst="roundRect">
            <a:avLst>
              <a:gd name="adj" fmla="val 7143"/>
            </a:avLst>
          </a:prstGeom>
          <a:solidFill>
            <a:srgbClr val="0D1B2E"/>
          </a:solidFill>
          <a:ln w="6350">
            <a:solidFill>
              <a:srgbClr val="FAC77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297680" y="326440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AC775"/>
                </a:solidFill>
              </a:rPr>
              <a:t>Grad-CAM Explainability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297680" y="3483864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0FF"/>
                </a:solidFill>
              </a:rPr>
              <a:t>Heatmaps prove the CNN attends to CPR/DOP patterns, not crater geometry. ISRO-required XAI: every prediction has a spatial attribution map viewable in the dashboard.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65760" y="43708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6890"/>
                </a:solidFill>
              </a:rPr>
              <a:t>75th-percentile depth bounds: L-band gives 1.30m–5.36m. P(ice within 2m drill limit) = 47% (L-band), 63% combined.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417320" cy="201168"/>
          </a:xfrm>
          <a:prstGeom prst="roundRect">
            <a:avLst>
              <a:gd name="adj" fmla="val 22727"/>
            </a:avLst>
          </a:prstGeom>
          <a:solidFill>
            <a:srgbClr val="00D4FF">
              <a:alpha val="18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D4FF"/>
                </a:solidFill>
              </a:rPr>
              <a:t>LAYER 10  |  DUAL-ZONE HAZARD MAPPING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Optical Paradox — solved with a hardware-aware switch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114800" cy="3337560"/>
          </a:xfrm>
          <a:prstGeom prst="roundRect">
            <a:avLst>
              <a:gd name="adj" fmla="val 2740"/>
            </a:avLst>
          </a:prstGeom>
          <a:solidFill>
            <a:srgbClr val="0D1B2E"/>
          </a:solidFill>
          <a:ln w="12700">
            <a:solidFill>
              <a:srgbClr val="FAC77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☀️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4632" y="1353312"/>
            <a:ext cx="3785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C775"/>
                </a:solidFill>
              </a:rPr>
              <a:t>Zone A — Sunlit Approach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" y="1627632"/>
            <a:ext cx="37856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890"/>
                </a:solidFill>
              </a:rPr>
              <a:t>OHRC optical + LOLA DEM slope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94360" y="1874520"/>
            <a:ext cx="3566160" cy="0"/>
          </a:xfrm>
          <a:prstGeom prst="line">
            <a:avLst/>
          </a:prstGeom>
          <a:noFill/>
          <a:ln w="5080">
            <a:solidFill>
              <a:srgbClr val="FAC775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21208" y="1956816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E0FF"/>
                </a:solidFill>
              </a:rPr>
              <a:t>YOLOv8 detects boulders ≥ 0.32m (Chandrayaan-4 wheel clearance)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21208" y="2304288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E0FF"/>
                </a:solidFill>
              </a:rPr>
              <a:t>Slope map flags terrain &gt; 10° (stability limit)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21208" y="2651760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E0FF"/>
                </a:solidFill>
              </a:rPr>
              <a:t>Boulder density × slope = combined hazard score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51560" y="3520440"/>
            <a:ext cx="2651760" cy="237744"/>
          </a:xfrm>
          <a:prstGeom prst="roundRect">
            <a:avLst>
              <a:gd name="adj" fmla="val 23077"/>
            </a:avLst>
          </a:prstGeom>
          <a:solidFill>
            <a:srgbClr val="FAC775">
              <a:alpha val="16000"/>
            </a:srgbClr>
          </a:solidFill>
          <a:ln w="5080">
            <a:solidFill>
              <a:srgbClr val="FAC7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52044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AC775"/>
                </a:solidFill>
              </a:rPr>
              <a:t>~73% safe pixels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09160" y="960120"/>
            <a:ext cx="4114800" cy="3337560"/>
          </a:xfrm>
          <a:prstGeom prst="roundRect">
            <a:avLst>
              <a:gd name="adj" fmla="val 2740"/>
            </a:avLst>
          </a:prstGeom>
          <a:solidFill>
            <a:srgbClr val="0D1B2E"/>
          </a:solidFill>
          <a:ln w="12700">
            <a:solidFill>
              <a:srgbClr val="378AD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0916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🌑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73752" y="1353312"/>
            <a:ext cx="3785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8ADD"/>
                </a:solidFill>
              </a:rPr>
              <a:t>Zone B — PSR Interior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73752" y="1627632"/>
            <a:ext cx="37856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890"/>
                </a:solidFill>
              </a:rPr>
              <a:t>LOLA DEM roughness + DFSAR texture ONLY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983480" y="1874520"/>
            <a:ext cx="3566160" cy="0"/>
          </a:xfrm>
          <a:prstGeom prst="line">
            <a:avLst/>
          </a:prstGeom>
          <a:noFill/>
          <a:ln w="5080">
            <a:solidFill>
              <a:srgbClr val="378ADD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4910328" y="1956816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4B4B"/>
                </a:solidFill>
              </a:rPr>
              <a:t>YOLOv8 is PHYSICALLY DISABLED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910328" y="2304288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E0FF"/>
                </a:solidFill>
              </a:rPr>
              <a:t>Temperature: 25 K. Photon flux: zero.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910328" y="2651760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E0FF"/>
                </a:solidFill>
              </a:rPr>
              <a:t>LOLA DEM RMS roughness proxies boulder hazard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910328" y="2999232"/>
            <a:ext cx="3712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E0FF"/>
                </a:solidFill>
              </a:rPr>
              <a:t>DFSAR surface texture replaces optical detection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40680" y="3520440"/>
            <a:ext cx="2651760" cy="237744"/>
          </a:xfrm>
          <a:prstGeom prst="roundRect">
            <a:avLst>
              <a:gd name="adj" fmla="val 23077"/>
            </a:avLst>
          </a:prstGeom>
          <a:solidFill>
            <a:srgbClr val="378ADD">
              <a:alpha val="16000"/>
            </a:srgbClr>
          </a:solidFill>
          <a:ln w="5080">
            <a:solidFill>
              <a:srgbClr val="378A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40680" y="352044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78ADD"/>
                </a:solidFill>
              </a:rPr>
              <a:t>~61% safe pixels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4407408"/>
            <a:ext cx="8503920" cy="310896"/>
          </a:xfrm>
          <a:prstGeom prst="roundRect">
            <a:avLst>
              <a:gd name="adj" fmla="val 17647"/>
            </a:avLst>
          </a:prstGeom>
          <a:solidFill>
            <a:srgbClr val="0D1B2E"/>
          </a:solidFill>
          <a:ln w="5080">
            <a:solidFill>
              <a:srgbClr val="4A68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4165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890"/>
                </a:solidFill>
              </a:rPr>
              <a:t>Chandrayaan-4 hardware constraints enforced throughout:  Max slope 10°  ·  Boulder clearance 0.32m  ·  Battery 100 Wh  ·  Solar recharge 20W (sunlit only)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417320" cy="201168"/>
          </a:xfrm>
          <a:prstGeom prst="roundRect">
            <a:avLst>
              <a:gd name="adj" fmla="val 22727"/>
            </a:avLst>
          </a:prstGeom>
          <a:solidFill>
            <a:srgbClr val="00D4FF">
              <a:alpha val="18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D4FF"/>
                </a:solidFill>
              </a:rPr>
              <a:t>LAYERS 14–16  |  SITE SELECTION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NSGA-II multi-objective optimisation — 3 competing objectives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00D4FF">
              <a:alpha val="12000"/>
            </a:srgbClr>
          </a:solidFill>
          <a:ln w="762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2412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FF"/>
                </a:solidFill>
              </a:rPr>
              <a:t>f₁  Maximise ice volume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890"/>
                </a:solidFill>
              </a:rPr>
              <a:t>(min –Ice/500)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154680" y="96012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FAC775">
              <a:alpha val="12000"/>
            </a:srgbClr>
          </a:solidFill>
          <a:ln w="7620">
            <a:solidFill>
              <a:srgbClr val="FAC7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02412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AC775"/>
                </a:solidFill>
              </a:rPr>
              <a:t>f₂  Minimise terrain hazard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91840" y="126187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890"/>
                </a:solidFill>
              </a:rPr>
              <a:t>(min Hazard)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989320" y="96012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00FF88">
              <a:alpha val="12000"/>
            </a:srgbClr>
          </a:solidFill>
          <a:ln w="7620">
            <a:solidFill>
              <a:srgbClr val="00FF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02412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F88"/>
                </a:solidFill>
              </a:rPr>
              <a:t>f₃  Maximise solar hours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126480" y="126187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890"/>
                </a:solidFill>
              </a:rPr>
              <a:t>(min –Solar/6)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" y="1719072"/>
            <a:ext cx="8503920" cy="2606040"/>
          </a:xfrm>
          <a:prstGeom prst="roundRect">
            <a:avLst>
              <a:gd name="adj" fmla="val 2807"/>
            </a:avLst>
          </a:prstGeom>
          <a:solidFill>
            <a:srgbClr val="0D1B2E"/>
          </a:solidFill>
          <a:ln w="5080">
            <a:solidFill>
              <a:srgbClr val="4A689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1792224"/>
            <a:ext cx="8138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6890"/>
                </a:solidFill>
              </a:rPr>
              <a:t>PARETO FRONT — TOP 5 MISSION SITES (NSGA-II Rank 1)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11480" y="202996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A6890"/>
                </a:solidFill>
              </a:rPr>
              <a:t>Rank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822960" y="20299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A6890"/>
                </a:solidFill>
              </a:rPr>
              <a:t>Site ID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508760" y="202996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A6890"/>
                </a:solidFill>
              </a:rPr>
              <a:t>Ice Volume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377440" y="20299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A6890"/>
                </a:solidFill>
              </a:rPr>
              <a:t>Hazard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063240" y="202996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A6890"/>
                </a:solidFill>
              </a:rPr>
              <a:t>Solar h/day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931920" y="20299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A6890"/>
                </a:solidFill>
              </a:rPr>
              <a:t>P(drill)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617720" y="202996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A6890"/>
                </a:solidFill>
              </a:rPr>
              <a:t>CRM Score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394960" y="202996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A6890"/>
                </a:solidFill>
              </a:rPr>
              <a:t>Status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65760" y="2286000"/>
            <a:ext cx="8412480" cy="329184"/>
          </a:xfrm>
          <a:prstGeom prst="roundRect">
            <a:avLst>
              <a:gd name="adj" fmla="val 13889"/>
            </a:avLst>
          </a:prstGeom>
          <a:solidFill>
            <a:srgbClr val="00FF88">
              <a:alpha val="10000"/>
            </a:srgbClr>
          </a:solidFill>
          <a:ln w="3810">
            <a:solidFill>
              <a:srgbClr val="00FF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286000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FF88"/>
                </a:solidFill>
              </a:rPr>
              <a:t>#1 ★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22960" y="228600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FF88"/>
                </a:solidFill>
              </a:rPr>
              <a:t>#31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508760" y="22860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FF88"/>
                </a:solidFill>
              </a:rPr>
              <a:t>159 m³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377440" y="228600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FF88"/>
                </a:solidFill>
              </a:rPr>
              <a:t>0.00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063240" y="22860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FF88"/>
                </a:solidFill>
              </a:rPr>
              <a:t>1.3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931920" y="228600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FF88"/>
                </a:solidFill>
              </a:rPr>
              <a:t>39%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617720" y="228600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FF88"/>
                </a:solidFill>
              </a:rPr>
              <a:t>0.426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394960" y="228600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FF88"/>
                </a:solidFill>
              </a:rPr>
              <a:t>SELECTED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11480" y="263347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4FF"/>
                </a:solidFill>
              </a:rPr>
              <a:t>#2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22960" y="2633472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4FF"/>
                </a:solidFill>
              </a:rPr>
              <a:t>#36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508760" y="263347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4FF"/>
                </a:solidFill>
              </a:rPr>
              <a:t>83 m³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377440" y="2633472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4FF"/>
                </a:solidFill>
              </a:rPr>
              <a:t>0.03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063240" y="263347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4FF"/>
                </a:solidFill>
              </a:rPr>
              <a:t>2.4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931920" y="2633472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4FF"/>
                </a:solidFill>
              </a:rPr>
              <a:t>29%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617720" y="263347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4FF"/>
                </a:solidFill>
              </a:rPr>
              <a:t>0.458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394960" y="263347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4FF"/>
                </a:solidFill>
              </a:rPr>
              <a:t>Backup A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11480" y="2980944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8ADD"/>
                </a:solidFill>
              </a:rPr>
              <a:t>#3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22960" y="2980944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8ADD"/>
                </a:solidFill>
              </a:rPr>
              <a:t>#125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508760" y="298094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8ADD"/>
                </a:solidFill>
              </a:rPr>
              <a:t>121 m³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377440" y="2980944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8ADD"/>
                </a:solidFill>
              </a:rPr>
              <a:t>0.03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063240" y="298094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8ADD"/>
                </a:solidFill>
              </a:rPr>
              <a:t>1.8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931920" y="2980944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8ADD"/>
                </a:solidFill>
              </a:rPr>
              <a:t>54%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617720" y="298094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8ADD"/>
                </a:solidFill>
              </a:rPr>
              <a:t>0.458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394960" y="298094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8ADD"/>
                </a:solidFill>
              </a:rPr>
              <a:t>Backup B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11480" y="3328416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0FF"/>
                </a:solidFill>
              </a:rPr>
              <a:t>#4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22960" y="3328416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0FF"/>
                </a:solidFill>
              </a:rPr>
              <a:t>#66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508760" y="33284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0FF"/>
                </a:solidFill>
              </a:rPr>
              <a:t>47 m³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377440" y="3328416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0FF"/>
                </a:solidFill>
              </a:rPr>
              <a:t>0.02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063240" y="33284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0FF"/>
                </a:solidFill>
              </a:rPr>
              <a:t>2.8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3931920" y="3328416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0FF"/>
                </a:solidFill>
              </a:rPr>
              <a:t>—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617720" y="332841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0FF"/>
                </a:solidFill>
              </a:rPr>
              <a:t>0.477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394960" y="332841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0FF"/>
                </a:solidFill>
              </a:rPr>
              <a:t>Contingency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11480" y="3675888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0FF"/>
                </a:solidFill>
              </a:rPr>
              <a:t>#5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22960" y="367588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0FF"/>
                </a:solidFill>
              </a:rPr>
              <a:t>#12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508760" y="367588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0FF"/>
                </a:solidFill>
              </a:rPr>
              <a:t>52 m³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2377440" y="367588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0FF"/>
                </a:solidFill>
              </a:rPr>
              <a:t>0.09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3063240" y="367588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0FF"/>
                </a:solidFill>
              </a:rPr>
              <a:t>3.3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3931920" y="367588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0FF"/>
                </a:solidFill>
              </a:rPr>
              <a:t>—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617720" y="367588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0FF"/>
                </a:solidFill>
              </a:rPr>
              <a:t>0.479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394960" y="367588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0FF"/>
                </a:solidFill>
              </a:rPr>
              <a:t>Contingency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365760" y="4416552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6890"/>
                </a:solidFill>
              </a:rPr>
              <a:t>CRM = 0.40 × Ice + 0.35 × Hazard + 0.15 × Solar + 0.10 × Earth-link  |  200 candidates → 170 feasible → 16 Pareto-optimal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417320" cy="201168"/>
          </a:xfrm>
          <a:prstGeom prst="roundRect">
            <a:avLst>
              <a:gd name="adj" fmla="val 22727"/>
            </a:avLst>
          </a:prstGeom>
          <a:solidFill>
            <a:srgbClr val="00D4FF">
              <a:alpha val="18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D4FF"/>
                </a:solidFill>
              </a:rPr>
              <a:t>LAYERS 17–18  |  ROVER PLANNING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Energy-aware RRT* global path + DWA real-time obstacle avoidance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5029200" cy="1234440"/>
          </a:xfrm>
          <a:prstGeom prst="roundRect">
            <a:avLst>
              <a:gd name="adj" fmla="val 5926"/>
            </a:avLst>
          </a:prstGeom>
          <a:solidFill>
            <a:srgbClr val="0D1B2E"/>
          </a:solidFill>
          <a:ln w="762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33272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Energy-Aware RRT* (Global)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27101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0FF"/>
                </a:solidFill>
              </a:rPr>
              <a:t>Traversal cost = Euclidean × (1 + slope_factor + shadow_penalty)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E0FF"/>
                </a:solidFill>
              </a:rPr>
              <a:t>Slope factor: exponential near 10° limit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E0FF"/>
                </a:solidFill>
              </a:rPr>
              <a:t>Shadow penalty: 1.5× in PSR (battery drain, no solar)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E0FF"/>
                </a:solidFill>
              </a:rPr>
              <a:t>Asymptotically optimal — pre-computed before finale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2286000"/>
            <a:ext cx="5029200" cy="1234440"/>
          </a:xfrm>
          <a:prstGeom prst="roundRect">
            <a:avLst>
              <a:gd name="adj" fmla="val 5926"/>
            </a:avLst>
          </a:prstGeom>
          <a:solidFill>
            <a:srgbClr val="0D1B2E"/>
          </a:solidFill>
          <a:ln w="7620">
            <a:solidFill>
              <a:srgbClr val="7F77D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359152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77DD"/>
                </a:solidFill>
              </a:rPr>
              <a:t>DWA Local Obstacle Avoidance (Gazebo live)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59689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0FF"/>
                </a:solidFill>
              </a:rPr>
              <a:t>Dynamic Window Approach runs at rover tick rate in Gazebo Digital Twin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E0FF"/>
                </a:solidFill>
              </a:rPr>
              <a:t>Velocity sampling in [v_min,v_max] × [ω_min,ω_max] window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E0FF"/>
                </a:solidFill>
              </a:rPr>
              <a:t>Scoring: 50% heading + 30% goal distance + 20% velocity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8E0FF"/>
                </a:solidFill>
              </a:rPr>
              <a:t>Handles new obstacles discovered during live traverse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3611880"/>
            <a:ext cx="5029200" cy="1234440"/>
          </a:xfrm>
          <a:prstGeom prst="roundRect">
            <a:avLst>
              <a:gd name="adj" fmla="val 5926"/>
            </a:avLst>
          </a:prstGeom>
          <a:solidFill>
            <a:srgbClr val="0D1B2E"/>
          </a:solidFill>
          <a:ln w="762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3685032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</a:rPr>
              <a:t>Ported from MATLAB Combat Simulator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922776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0FF"/>
                </a:solidFill>
              </a:rPr>
              <a:t>Kalman filter + Hungarian + RRT* + DWA stack originally built for drone swarm collision avoidance. Adapted for low-gravity, slow-speed lunar terrain. Python port validated on identical synthetic scenarios.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577840" y="960120"/>
            <a:ext cx="3246120" cy="3200400"/>
          </a:xfrm>
          <a:prstGeom prst="roundRect">
            <a:avLst>
              <a:gd name="adj" fmla="val 2857"/>
            </a:avLst>
          </a:prstGeom>
          <a:solidFill>
            <a:srgbClr val="0D1B2E"/>
          </a:solidFill>
          <a:ln w="63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15000" y="1042416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6890"/>
                </a:solidFill>
              </a:rPr>
              <a:t>MISSION TRAVERSE STATS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87568" y="129844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890"/>
                </a:solidFill>
              </a:rPr>
              <a:t>Algorithm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406640" y="129844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RRT* + DWA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687568" y="1517904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890"/>
                </a:solidFill>
              </a:rPr>
              <a:t>Waypoints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406640" y="151790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27 global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687568" y="173736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890"/>
                </a:solidFill>
              </a:rPr>
              <a:t>Path cost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406640" y="173736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435.6 (energy)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687568" y="195681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890"/>
                </a:solidFill>
              </a:rPr>
              <a:t>Max speed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406640" y="195681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1 cm/s (lunar)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687568" y="217627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890"/>
                </a:solidFill>
              </a:rPr>
              <a:t>Slope gate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406640" y="217627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&lt; 10°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687568" y="239572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890"/>
                </a:solidFill>
              </a:rPr>
              <a:t>Obstacle radius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406640" y="239572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0.32m clearance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687568" y="2615184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890"/>
                </a:solidFill>
              </a:rPr>
              <a:t>PSR cost mult.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406640" y="261518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1.5×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687568" y="283464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890"/>
                </a:solidFill>
              </a:rPr>
              <a:t>Pre-compute time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406640" y="283464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FF"/>
                </a:solidFill>
              </a:rPr>
              <a:t>1.35s (CPU)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65760" y="4416552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0FF88"/>
                </a:solidFill>
              </a:rPr>
              <a:t>Finale strategy: RRT* pre-computed ✓  |  DWA runs live in Gazebo Digital Twin  |  No 30-hour compute trap ✓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417320" cy="201168"/>
          </a:xfrm>
          <a:prstGeom prst="roundRect">
            <a:avLst>
              <a:gd name="adj" fmla="val 22727"/>
            </a:avLst>
          </a:prstGeom>
          <a:solidFill>
            <a:srgbClr val="00D4FF">
              <a:alpha val="18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D4FF"/>
                </a:solidFill>
              </a:rPr>
              <a:t>LAYER 19  |  MISSION DASHBOARD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Interactive mission control — 6 live modules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51760" cy="1389888"/>
          </a:xfrm>
          <a:prstGeom prst="roundRect">
            <a:avLst>
              <a:gd name="adj" fmla="val 6579"/>
            </a:avLst>
          </a:prstGeom>
          <a:solidFill>
            <a:srgbClr val="0D1B2E"/>
          </a:solidFill>
          <a:ln w="12700">
            <a:solidFill>
              <a:srgbClr val="378AD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155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8ADD"/>
                </a:solidFill>
              </a:rPr>
              <a:t>Lunar Maps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7556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E0FF"/>
                </a:solidFill>
              </a:rPr>
              <a:t>DEM · illumination · slope · Earth-vis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172968" y="1005840"/>
            <a:ext cx="2651760" cy="1389888"/>
          </a:xfrm>
          <a:prstGeom prst="roundRect">
            <a:avLst>
              <a:gd name="adj" fmla="val 6579"/>
            </a:avLst>
          </a:prstGeom>
          <a:solidFill>
            <a:srgbClr val="0D1B2E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72968" y="11155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🧊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264408" y="150876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Ice Probability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64408" y="17556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E0FF"/>
                </a:solidFill>
              </a:rPr>
              <a:t>CPR/DOP · CNN · uncertainty heatmaps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25896" y="1005840"/>
            <a:ext cx="2651760" cy="1389888"/>
          </a:xfrm>
          <a:prstGeom prst="roundRect">
            <a:avLst>
              <a:gd name="adj" fmla="val 6579"/>
            </a:avLst>
          </a:prstGeom>
          <a:solidFill>
            <a:srgbClr val="0D1B2E"/>
          </a:solidFill>
          <a:ln w="12700">
            <a:solidFill>
              <a:srgbClr val="FAC77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25896" y="11155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117336" y="150876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C775"/>
                </a:solidFill>
              </a:rPr>
              <a:t>Hazard Maps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17336" y="17556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E0FF"/>
                </a:solidFill>
              </a:rPr>
              <a:t>Dual-zone · boulder density · traversability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0040" y="2560320"/>
            <a:ext cx="2651760" cy="1389888"/>
          </a:xfrm>
          <a:prstGeom prst="roundRect">
            <a:avLst>
              <a:gd name="adj" fmla="val 6579"/>
            </a:avLst>
          </a:prstGeom>
          <a:solidFill>
            <a:srgbClr val="0D1B2E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" y="26700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11480" y="306324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9E75"/>
                </a:solidFill>
              </a:rPr>
              <a:t>Landing Sites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3101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E0FF"/>
                </a:solidFill>
              </a:rPr>
              <a:t>NSGA-II Pareto · site comparison · select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172968" y="2560320"/>
            <a:ext cx="2651760" cy="1389888"/>
          </a:xfrm>
          <a:prstGeom prst="roundRect">
            <a:avLst>
              <a:gd name="adj" fmla="val 6579"/>
            </a:avLst>
          </a:prstGeom>
          <a:solidFill>
            <a:srgbClr val="0D1B2E"/>
          </a:solidFill>
          <a:ln w="12700">
            <a:solidFill>
              <a:srgbClr val="7F77D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172968" y="26700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264408" y="306324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77DD"/>
                </a:solidFill>
              </a:rPr>
              <a:t>Rover Simulation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64408" y="33101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E0FF"/>
                </a:solidFill>
              </a:rPr>
              <a:t>RRT* path · DWA avoidance · live telemetry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025896" y="2560320"/>
            <a:ext cx="2651760" cy="1389888"/>
          </a:xfrm>
          <a:prstGeom prst="roundRect">
            <a:avLst>
              <a:gd name="adj" fmla="val 6579"/>
            </a:avLst>
          </a:prstGeom>
          <a:solidFill>
            <a:srgbClr val="0D1B2E"/>
          </a:solidFill>
          <a:ln w="1270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25896" y="26700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117336" y="306324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F88"/>
                </a:solidFill>
              </a:rPr>
              <a:t>Battery &amp; Power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17336" y="33101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8E0FF"/>
                </a:solidFill>
              </a:rPr>
              <a:t>14-day profile · solar harvest · PSR penalty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65760" y="4416552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4A6890"/>
                </a:solidFill>
              </a:rPr>
              <a:t>Built with Streamlit · Plotly · Physics-rendered terrain textures · All 21 pipeline layers exposed in real-time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417320" cy="201168"/>
          </a:xfrm>
          <a:prstGeom prst="roundRect">
            <a:avLst>
              <a:gd name="adj" fmla="val 22727"/>
            </a:avLst>
          </a:prstGeom>
          <a:solidFill>
            <a:srgbClr val="00D4FF">
              <a:alpha val="18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D4FF"/>
                </a:solidFill>
              </a:rPr>
              <a:t>ARCHITECTURAL INTEGRITY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Flaws identified — and precisely fixed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3931920" cy="694944"/>
          </a:xfrm>
          <a:prstGeom prst="roundRect">
            <a:avLst>
              <a:gd name="adj" fmla="val 9211"/>
            </a:avLst>
          </a:prstGeom>
          <a:solidFill>
            <a:srgbClr val="FF4B4B">
              <a:alpha val="8000"/>
            </a:srgbClr>
          </a:solidFill>
          <a:ln w="5080">
            <a:solidFill>
              <a:srgbClr val="FF4B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4B4B"/>
                </a:solidFill>
              </a:rPr>
              <a:t>✗  DeepSORT used for orbital cross-pass tracking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251960" y="1335024"/>
            <a:ext cx="502920" cy="0"/>
          </a:xfrm>
          <a:prstGeom prst="line">
            <a:avLst/>
          </a:prstGeom>
          <a:noFill/>
          <a:ln w="12700">
            <a:solidFill>
              <a:srgbClr val="4A68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124358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890"/>
                </a:solidFill>
              </a:rPr>
              <a:t>→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987552"/>
            <a:ext cx="4069080" cy="694944"/>
          </a:xfrm>
          <a:prstGeom prst="roundRect">
            <a:avLst>
              <a:gd name="adj" fmla="val 9211"/>
            </a:avLst>
          </a:prstGeom>
          <a:solidFill>
            <a:srgbClr val="00FF88">
              <a:alpha val="8000"/>
            </a:srgbClr>
          </a:solidFill>
          <a:ln w="5080">
            <a:solidFill>
              <a:srgbClr val="00FF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987552"/>
            <a:ext cx="3794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FF88"/>
                </a:solidFill>
              </a:rPr>
              <a:t>✓  Replaced with Hungarian Assignment — correct for sparse orbital passes (days/weeks apart, no appearance embeddings)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1773936"/>
            <a:ext cx="3931920" cy="694944"/>
          </a:xfrm>
          <a:prstGeom prst="roundRect">
            <a:avLst>
              <a:gd name="adj" fmla="val 9211"/>
            </a:avLst>
          </a:prstGeom>
          <a:solidFill>
            <a:srgbClr val="FF4B4B">
              <a:alpha val="8000"/>
            </a:srgbClr>
          </a:solidFill>
          <a:ln w="5080">
            <a:solidFill>
              <a:srgbClr val="FF4B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773936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4B4B"/>
                </a:solidFill>
              </a:rPr>
              <a:t>✗  CNN called 'PINN' without PDE embedding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251960" y="2121408"/>
            <a:ext cx="502920" cy="0"/>
          </a:xfrm>
          <a:prstGeom prst="line">
            <a:avLst/>
          </a:prstGeom>
          <a:noFill/>
          <a:ln w="12700">
            <a:solidFill>
              <a:srgbClr val="4A68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20299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890"/>
                </a:solidFill>
              </a:rPr>
              <a:t>→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773936"/>
            <a:ext cx="4069080" cy="694944"/>
          </a:xfrm>
          <a:prstGeom prst="roundRect">
            <a:avLst>
              <a:gd name="adj" fmla="val 9211"/>
            </a:avLst>
          </a:prstGeom>
          <a:solidFill>
            <a:srgbClr val="00FF88">
              <a:alpha val="8000"/>
            </a:srgbClr>
          </a:solidFill>
          <a:ln w="5080">
            <a:solidFill>
              <a:srgbClr val="00FF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773936"/>
            <a:ext cx="3794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FF88"/>
                </a:solidFill>
              </a:rPr>
              <a:t>✓  Renamed to Physics-Regularized CNN. True PINN embeds PDEs via autodiff. Ours adds physics penalty to CE loss — accurate terminology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0040" y="2560320"/>
            <a:ext cx="3931920" cy="694944"/>
          </a:xfrm>
          <a:prstGeom prst="roundRect">
            <a:avLst>
              <a:gd name="adj" fmla="val 9211"/>
            </a:avLst>
          </a:prstGeom>
          <a:solidFill>
            <a:srgbClr val="FF4B4B">
              <a:alpha val="8000"/>
            </a:srgbClr>
          </a:solidFill>
          <a:ln w="5080">
            <a:solidFill>
              <a:srgbClr val="FF4B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60320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4B4B"/>
                </a:solidFill>
              </a:rPr>
              <a:t>✗  YOLO enabled inside PSR — the Optical Paradox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251960" y="2907792"/>
            <a:ext cx="502920" cy="0"/>
          </a:xfrm>
          <a:prstGeom prst="line">
            <a:avLst/>
          </a:prstGeom>
          <a:noFill/>
          <a:ln w="12700">
            <a:solidFill>
              <a:srgbClr val="4A68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0" y="281635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890"/>
                </a:solidFill>
              </a:rPr>
              <a:t>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560320"/>
            <a:ext cx="4069080" cy="694944"/>
          </a:xfrm>
          <a:prstGeom prst="roundRect">
            <a:avLst>
              <a:gd name="adj" fmla="val 9211"/>
            </a:avLst>
          </a:prstGeom>
          <a:solidFill>
            <a:srgbClr val="00FF88">
              <a:alpha val="8000"/>
            </a:srgbClr>
          </a:solidFill>
          <a:ln w="5080">
            <a:solidFill>
              <a:srgbClr val="00FF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560320"/>
            <a:ext cx="3794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FF88"/>
                </a:solidFill>
              </a:rPr>
              <a:t>✓  Dual-zone switch: YOLO strictly disabled in PSR. Only LOLA DEM + DFSAR roughness used at 25K zero-light zones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0040" y="3346704"/>
            <a:ext cx="3931920" cy="694944"/>
          </a:xfrm>
          <a:prstGeom prst="roundRect">
            <a:avLst>
              <a:gd name="adj" fmla="val 9211"/>
            </a:avLst>
          </a:prstGeom>
          <a:solidFill>
            <a:srgbClr val="FF4B4B">
              <a:alpha val="8000"/>
            </a:srgbClr>
          </a:solidFill>
          <a:ln w="5080">
            <a:solidFill>
              <a:srgbClr val="FF4B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346704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4B4B"/>
                </a:solidFill>
              </a:rPr>
              <a:t>✗  Depth given as a single point estimate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251960" y="3694176"/>
            <a:ext cx="502920" cy="0"/>
          </a:xfrm>
          <a:prstGeom prst="line">
            <a:avLst/>
          </a:prstGeom>
          <a:noFill/>
          <a:ln w="12700">
            <a:solidFill>
              <a:srgbClr val="4A68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0" y="3602736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890"/>
                </a:solidFill>
              </a:rPr>
              <a:t>→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3346704"/>
            <a:ext cx="4069080" cy="694944"/>
          </a:xfrm>
          <a:prstGeom prst="roundRect">
            <a:avLst>
              <a:gd name="adj" fmla="val 9211"/>
            </a:avLst>
          </a:prstGeom>
          <a:solidFill>
            <a:srgbClr val="00FF88">
              <a:alpha val="8000"/>
            </a:srgbClr>
          </a:solidFill>
          <a:ln w="5080">
            <a:solidFill>
              <a:srgbClr val="00FF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346704"/>
            <a:ext cx="3794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FF88"/>
                </a:solidFill>
              </a:rPr>
              <a:t>✓  75th-percentile bounds via 10,000 tan-δ samples. Output is P(ice within drill limit) — honest to ISRO scientists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0040" y="4133088"/>
            <a:ext cx="3931920" cy="694944"/>
          </a:xfrm>
          <a:prstGeom prst="roundRect">
            <a:avLst>
              <a:gd name="adj" fmla="val 9211"/>
            </a:avLst>
          </a:prstGeom>
          <a:solidFill>
            <a:srgbClr val="FF4B4B">
              <a:alpha val="8000"/>
            </a:srgbClr>
          </a:solidFill>
          <a:ln w="5080">
            <a:solidFill>
              <a:srgbClr val="FF4B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133088"/>
            <a:ext cx="3657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4B4B"/>
                </a:solidFill>
              </a:rPr>
              <a:t>✗  MC Dropout disabled at inference (eval mode)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251960" y="4480560"/>
            <a:ext cx="502920" cy="0"/>
          </a:xfrm>
          <a:prstGeom prst="line">
            <a:avLst/>
          </a:prstGeom>
          <a:noFill/>
          <a:ln w="12700">
            <a:solidFill>
              <a:srgbClr val="4A68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97680" y="43891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890"/>
                </a:solidFill>
              </a:rPr>
              <a:t>→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4133088"/>
            <a:ext cx="4069080" cy="694944"/>
          </a:xfrm>
          <a:prstGeom prst="roundRect">
            <a:avLst>
              <a:gd name="adj" fmla="val 9211"/>
            </a:avLst>
          </a:prstGeom>
          <a:solidFill>
            <a:srgbClr val="00FF88">
              <a:alpha val="8000"/>
            </a:srgbClr>
          </a:solidFill>
          <a:ln w="5080">
            <a:solidFill>
              <a:srgbClr val="00FF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4133088"/>
            <a:ext cx="3794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FF88"/>
                </a:solidFill>
              </a:rPr>
              <a:t>✓  enable_mc_dropout() explicitly re-enables Dropout layers after model.eval(). 50 stochastic passes with correct uncertainty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417320" cy="201168"/>
          </a:xfrm>
          <a:prstGeom prst="roundRect">
            <a:avLst>
              <a:gd name="adj" fmla="val 22727"/>
            </a:avLst>
          </a:prstGeom>
          <a:solidFill>
            <a:srgbClr val="00D4FF">
              <a:alpha val="18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D4FF"/>
                </a:solidFill>
              </a:rPr>
              <a:t>ROADMAP TO FINALE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What's built · What's next · Why we win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3931920" cy="3246120"/>
          </a:xfrm>
          <a:prstGeom prst="roundRect">
            <a:avLst>
              <a:gd name="adj" fmla="val 2817"/>
            </a:avLst>
          </a:prstGeom>
          <a:solidFill>
            <a:srgbClr val="00FF88">
              <a:alpha val="6000"/>
            </a:srgbClr>
          </a:solidFill>
          <a:ln w="762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2412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</a:rPr>
              <a:t>✅  BUILT &amp; TESTED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33502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FF88"/>
                </a:solidFill>
              </a:rPr>
              <a:t>✓  CPR/DOP physics gate with roughness rejection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16093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FF88"/>
                </a:solidFill>
              </a:rPr>
              <a:t>✓  Hungarian orbit tracker (3 passes validated)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88366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FF88"/>
                </a:solidFill>
              </a:rPr>
              <a:t>✓  Physics-regularized CNN (Grad-CAM + MC Dropout)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215798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FF88"/>
                </a:solidFill>
              </a:rPr>
              <a:t>✓  Depth probability bounds (L + S band)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243230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FF88"/>
                </a:solidFill>
              </a:rPr>
              <a:t>✓  Dual-zone hazard mapper (YOLO off in PSR)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270662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FF88"/>
                </a:solidFill>
              </a:rPr>
              <a:t>✓  NSGA-II Pareto front (16 rank-1 sites)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" y="29809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FF88"/>
                </a:solidFill>
              </a:rPr>
              <a:t>✓  Energy-aware RRT* (27 waypoints, 1.35s CPU)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2920" y="325526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FF88"/>
                </a:solidFill>
              </a:rPr>
              <a:t>✓  DWA local avoidance (Gazebo-ready)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2920" y="352958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FF88"/>
                </a:solidFill>
              </a:rPr>
              <a:t>✓  Streamlit Mission Control dashboard (6 modules)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380390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FF88"/>
                </a:solidFill>
              </a:rPr>
              <a:t>✓  Synthetic DFSAR dataset (2000 samples)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0" y="960120"/>
            <a:ext cx="4251960" cy="3246120"/>
          </a:xfrm>
          <a:prstGeom prst="roundRect">
            <a:avLst>
              <a:gd name="adj" fmla="val 2817"/>
            </a:avLst>
          </a:prstGeom>
          <a:solidFill>
            <a:srgbClr val="FAC775">
              <a:alpha val="6000"/>
            </a:srgbClr>
          </a:solidFill>
          <a:ln w="7620">
            <a:solidFill>
              <a:srgbClr val="FAC77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1024128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AC775"/>
                </a:solidFill>
              </a:rPr>
              <a:t>🔧  BEFORE FINALE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1335024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AC775"/>
                </a:solidFill>
              </a:rPr>
              <a:t>⚠ Parse 1 real DFSAR .img from ISRO PRADAN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54880" y="1682496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AC775"/>
                </a:solidFill>
              </a:rPr>
              <a:t>⚠ Train CNN on real patches (even 50 tiles)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54880" y="202996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AC775"/>
                </a:solidFill>
              </a:rPr>
              <a:t>⚠ Build minimal Gazebo world (flat + obstacles)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54880" y="237744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4FF"/>
                </a:solidFill>
              </a:rPr>
              <a:t>○ Export TorchScript model for real-time inference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54880" y="272491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4FF"/>
                </a:solidFill>
              </a:rPr>
              <a:t>○ Pin requirements.txt + Dockerfile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54880" y="3072384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0FF"/>
                </a:solidFill>
              </a:rPr>
              <a:t>○ Faustini / Shackleton cross-validation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54880" y="3419856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0FF"/>
                </a:solidFill>
              </a:rPr>
              <a:t>○ Science validation against Hayne et al. 2015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5760" y="4425696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D4FF"/>
                </a:solidFill>
              </a:rPr>
              <a:t>Architecture is finalist-ready. The bridge between design and deployment is 4 weeks of real-data work.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274320"/>
            <a:ext cx="18288" cy="18288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0" y="731520"/>
            <a:ext cx="18288" cy="18288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182880"/>
            <a:ext cx="18288" cy="18288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0" y="822960"/>
            <a:ext cx="18288" cy="18288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274320"/>
            <a:ext cx="18288" cy="18288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0" y="640080"/>
            <a:ext cx="18288" cy="18288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828800"/>
            <a:ext cx="18288" cy="18288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1371600"/>
            <a:ext cx="18288" cy="18288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0" y="2194560"/>
            <a:ext cx="18288" cy="18288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1645920"/>
            <a:ext cx="18288" cy="18288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06640" y="2011680"/>
            <a:ext cx="18288" cy="18288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3200400"/>
            <a:ext cx="18288" cy="18288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3657600"/>
            <a:ext cx="18288" cy="18288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3474720"/>
            <a:ext cx="18288" cy="18288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3840480"/>
            <a:ext cx="18288" cy="18288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200400"/>
            <a:ext cx="18288" cy="18288"/>
          </a:xfrm>
          <a:prstGeom prst="ellipse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spc="800" kern="0" dirty="0">
                <a:solidFill>
                  <a:srgbClr val="00D4FF"/>
                </a:solidFill>
              </a:rPr>
              <a:t>LUNA-SITE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914400" y="199339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E0FF"/>
                </a:solidFill>
              </a:rPr>
              <a:t>Lighting the path to lunar water — for Chandrayaan-4 and beyond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286000" y="2423160"/>
            <a:ext cx="4572000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02920" y="2651760"/>
            <a:ext cx="1234440" cy="822960"/>
          </a:xfrm>
          <a:prstGeom prst="roundRect">
            <a:avLst>
              <a:gd name="adj" fmla="val 8889"/>
            </a:avLst>
          </a:prstGeom>
          <a:solidFill>
            <a:srgbClr val="0D1B2E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715768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</a:rPr>
              <a:t>21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02920" y="312724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890"/>
                </a:solidFill>
              </a:rPr>
              <a:t>Pipeline layers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920240" y="2651760"/>
            <a:ext cx="1234440" cy="822960"/>
          </a:xfrm>
          <a:prstGeom prst="roundRect">
            <a:avLst>
              <a:gd name="adj" fmla="val 8889"/>
            </a:avLst>
          </a:prstGeom>
          <a:solidFill>
            <a:srgbClr val="0D1B2E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20240" y="2715768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</a:rPr>
              <a:t>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920240" y="312724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890"/>
                </a:solidFill>
              </a:rPr>
              <a:t>Objectives (NSGA-II)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337560" y="2651760"/>
            <a:ext cx="1234440" cy="822960"/>
          </a:xfrm>
          <a:prstGeom prst="roundRect">
            <a:avLst>
              <a:gd name="adj" fmla="val 8889"/>
            </a:avLst>
          </a:prstGeom>
          <a:solidFill>
            <a:srgbClr val="0D1B2E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2715768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</a:rPr>
              <a:t>16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337560" y="312724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890"/>
                </a:solidFill>
              </a:rPr>
              <a:t>Pareto-optimal sites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754880" y="2651760"/>
            <a:ext cx="1234440" cy="822960"/>
          </a:xfrm>
          <a:prstGeom prst="roundRect">
            <a:avLst>
              <a:gd name="adj" fmla="val 8889"/>
            </a:avLst>
          </a:prstGeom>
          <a:solidFill>
            <a:srgbClr val="0D1B2E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715768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</a:rPr>
              <a:t>47%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754880" y="312724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890"/>
                </a:solidFill>
              </a:rPr>
              <a:t>P(ice ≤ 2m depth)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172200" y="2651760"/>
            <a:ext cx="1234440" cy="822960"/>
          </a:xfrm>
          <a:prstGeom prst="roundRect">
            <a:avLst>
              <a:gd name="adj" fmla="val 8889"/>
            </a:avLst>
          </a:prstGeom>
          <a:solidFill>
            <a:srgbClr val="0D1B2E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2200" y="2715768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</a:rPr>
              <a:t>27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172200" y="312724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890"/>
                </a:solidFill>
              </a:rPr>
              <a:t>RRT* waypoints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589520" y="2651760"/>
            <a:ext cx="1234440" cy="822960"/>
          </a:xfrm>
          <a:prstGeom prst="roundRect">
            <a:avLst>
              <a:gd name="adj" fmla="val 8889"/>
            </a:avLst>
          </a:prstGeom>
          <a:solidFill>
            <a:srgbClr val="0D1B2E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0" y="2715768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</a:rPr>
              <a:t>5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589520" y="312724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6890"/>
                </a:solidFill>
              </a:rPr>
              <a:t>Architectural flaws fixed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57200" y="4626864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890"/>
                </a:solidFill>
              </a:rPr>
              <a:t>Bharatiya Antariksh Hackathon 2026  ·  Challenge 8  ·  Team LUNA-SITE  ·  Delhi Technological University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LUNA-SITE — Bharatiya Antariksh Hackathon 2026</dc:title>
  <dc:subject>PptxGenJS Presentation</dc:subject>
  <dc:creator>LUNA-SITE Team | DTU</dc:creator>
  <cp:lastModifiedBy>LUNA-SITE Team | DTU</cp:lastModifiedBy>
  <cp:revision>1</cp:revision>
  <dcterms:created xsi:type="dcterms:W3CDTF">2026-06-19T05:26:20Z</dcterms:created>
  <dcterms:modified xsi:type="dcterms:W3CDTF">2026-06-19T05:26:20Z</dcterms:modified>
</cp:coreProperties>
</file>