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 ." userId="8e579bd54ea45599" providerId="LiveId" clId="{1AAF9450-A5F3-4716-A16C-F5281253D64B}"/>
    <pc:docChg chg="custSel modSld sldOrd">
      <pc:chgData name="Rishi ." userId="8e579bd54ea45599" providerId="LiveId" clId="{1AAF9450-A5F3-4716-A16C-F5281253D64B}" dt="2026-06-21T04:27:13.180" v="86" actId="14100"/>
      <pc:docMkLst>
        <pc:docMk/>
      </pc:docMkLst>
      <pc:sldChg chg="modSp mod">
        <pc:chgData name="Rishi ." userId="8e579bd54ea45599" providerId="LiveId" clId="{1AAF9450-A5F3-4716-A16C-F5281253D64B}" dt="2026-06-21T04:09:47.501" v="13" actId="14100"/>
        <pc:sldMkLst>
          <pc:docMk/>
          <pc:sldMk cId="0" sldId="260"/>
        </pc:sldMkLst>
        <pc:spChg chg="mod">
          <ac:chgData name="Rishi ." userId="8e579bd54ea45599" providerId="LiveId" clId="{1AAF9450-A5F3-4716-A16C-F5281253D64B}" dt="2026-06-21T04:09:42.576" v="12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Rishi ." userId="8e579bd54ea45599" providerId="LiveId" clId="{1AAF9450-A5F3-4716-A16C-F5281253D64B}" dt="2026-06-21T04:09:31.118" v="10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shi ." userId="8e579bd54ea45599" providerId="LiveId" clId="{1AAF9450-A5F3-4716-A16C-F5281253D64B}" dt="2026-06-21T04:09:34.464" v="11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Rishi ." userId="8e579bd54ea45599" providerId="LiveId" clId="{1AAF9450-A5F3-4716-A16C-F5281253D64B}" dt="2026-06-21T04:09:47.501" v="13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shi ." userId="8e579bd54ea45599" providerId="LiveId" clId="{1AAF9450-A5F3-4716-A16C-F5281253D64B}" dt="2026-06-21T04:09:21.903" v="8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Rishi ." userId="8e579bd54ea45599" providerId="LiveId" clId="{1AAF9450-A5F3-4716-A16C-F5281253D64B}" dt="2026-06-21T04:09:17.041" v="7" actId="14100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Rishi ." userId="8e579bd54ea45599" providerId="LiveId" clId="{1AAF9450-A5F3-4716-A16C-F5281253D64B}" dt="2026-06-21T04:08:44.098" v="5" actId="14100"/>
        <pc:sldMkLst>
          <pc:docMk/>
          <pc:sldMk cId="0" sldId="262"/>
        </pc:sldMkLst>
        <pc:spChg chg="mod">
          <ac:chgData name="Rishi ." userId="8e579bd54ea45599" providerId="LiveId" clId="{1AAF9450-A5F3-4716-A16C-F5281253D64B}" dt="2026-06-21T04:08:23.858" v="2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Rishi ." userId="8e579bd54ea45599" providerId="LiveId" clId="{1AAF9450-A5F3-4716-A16C-F5281253D64B}" dt="2026-06-21T04:08:10.751" v="1" actId="688"/>
          <ac:spMkLst>
            <pc:docMk/>
            <pc:sldMk cId="0" sldId="262"/>
            <ac:spMk id="6" creationId="{00000000-0000-0000-0000-000000000000}"/>
          </ac:spMkLst>
        </pc:spChg>
        <pc:spChg chg="mod">
          <ac:chgData name="Rishi ." userId="8e579bd54ea45599" providerId="LiveId" clId="{1AAF9450-A5F3-4716-A16C-F5281253D64B}" dt="2026-06-21T04:08:35.012" v="3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Rishi ." userId="8e579bd54ea45599" providerId="LiveId" clId="{1AAF9450-A5F3-4716-A16C-F5281253D64B}" dt="2026-06-21T04:08:44.098" v="5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Rishi ." userId="8e579bd54ea45599" providerId="LiveId" clId="{1AAF9450-A5F3-4716-A16C-F5281253D64B}" dt="2026-06-21T04:08:39.795" v="4" actId="14100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Rishi ." userId="8e579bd54ea45599" providerId="LiveId" clId="{1AAF9450-A5F3-4716-A16C-F5281253D64B}" dt="2026-06-21T04:10:34.638" v="18" actId="14100"/>
        <pc:sldMkLst>
          <pc:docMk/>
          <pc:sldMk cId="0" sldId="264"/>
        </pc:sldMkLst>
        <pc:spChg chg="mod">
          <ac:chgData name="Rishi ." userId="8e579bd54ea45599" providerId="LiveId" clId="{1AAF9450-A5F3-4716-A16C-F5281253D64B}" dt="2026-06-21T04:10:22.206" v="16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Rishi ." userId="8e579bd54ea45599" providerId="LiveId" clId="{1AAF9450-A5F3-4716-A16C-F5281253D64B}" dt="2026-06-21T04:10:25.997" v="17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Rishi ." userId="8e579bd54ea45599" providerId="LiveId" clId="{1AAF9450-A5F3-4716-A16C-F5281253D64B}" dt="2026-06-21T04:10:15.803" v="14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Rishi ." userId="8e579bd54ea45599" providerId="LiveId" clId="{1AAF9450-A5F3-4716-A16C-F5281253D64B}" dt="2026-06-21T04:10:34.638" v="18" actId="14100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mod">
        <pc:chgData name="Rishi ." userId="8e579bd54ea45599" providerId="LiveId" clId="{1AAF9450-A5F3-4716-A16C-F5281253D64B}" dt="2026-06-21T04:27:13.180" v="86" actId="14100"/>
        <pc:sldMkLst>
          <pc:docMk/>
          <pc:sldMk cId="0" sldId="265"/>
        </pc:sldMkLst>
        <pc:picChg chg="del">
          <ac:chgData name="Rishi ." userId="8e579bd54ea45599" providerId="LiveId" clId="{1AAF9450-A5F3-4716-A16C-F5281253D64B}" dt="2026-06-21T04:21:28.369" v="29" actId="478"/>
          <ac:picMkLst>
            <pc:docMk/>
            <pc:sldMk cId="0" sldId="265"/>
            <ac:picMk id="4" creationId="{00000000-0000-0000-0000-000000000000}"/>
          </ac:picMkLst>
        </pc:picChg>
        <pc:picChg chg="add del mod">
          <ac:chgData name="Rishi ." userId="8e579bd54ea45599" providerId="LiveId" clId="{1AAF9450-A5F3-4716-A16C-F5281253D64B}" dt="2026-06-21T04:22:06.875" v="34" actId="478"/>
          <ac:picMkLst>
            <pc:docMk/>
            <pc:sldMk cId="0" sldId="265"/>
            <ac:picMk id="7" creationId="{1311F6F3-4334-5478-F20E-50D1E3F17325}"/>
          </ac:picMkLst>
        </pc:picChg>
        <pc:picChg chg="add del mod">
          <ac:chgData name="Rishi ." userId="8e579bd54ea45599" providerId="LiveId" clId="{1AAF9450-A5F3-4716-A16C-F5281253D64B}" dt="2026-06-21T04:22:06.875" v="34" actId="478"/>
          <ac:picMkLst>
            <pc:docMk/>
            <pc:sldMk cId="0" sldId="265"/>
            <ac:picMk id="9" creationId="{D4361F9B-911F-293F-2F8C-614AAB1F630A}"/>
          </ac:picMkLst>
        </pc:picChg>
        <pc:picChg chg="add del mod">
          <ac:chgData name="Rishi ." userId="8e579bd54ea45599" providerId="LiveId" clId="{1AAF9450-A5F3-4716-A16C-F5281253D64B}" dt="2026-06-21T04:22:06.875" v="34" actId="478"/>
          <ac:picMkLst>
            <pc:docMk/>
            <pc:sldMk cId="0" sldId="265"/>
            <ac:picMk id="11" creationId="{423A56E3-1F27-E8E9-702D-2FE2A8209940}"/>
          </ac:picMkLst>
        </pc:picChg>
        <pc:picChg chg="add del mod">
          <ac:chgData name="Rishi ." userId="8e579bd54ea45599" providerId="LiveId" clId="{1AAF9450-A5F3-4716-A16C-F5281253D64B}" dt="2026-06-21T04:22:06.875" v="34" actId="478"/>
          <ac:picMkLst>
            <pc:docMk/>
            <pc:sldMk cId="0" sldId="265"/>
            <ac:picMk id="13" creationId="{6F885828-DB6A-1C9D-5699-E173A3765752}"/>
          </ac:picMkLst>
        </pc:picChg>
        <pc:picChg chg="add del mod">
          <ac:chgData name="Rishi ." userId="8e579bd54ea45599" providerId="LiveId" clId="{1AAF9450-A5F3-4716-A16C-F5281253D64B}" dt="2026-06-21T04:22:06.875" v="34" actId="478"/>
          <ac:picMkLst>
            <pc:docMk/>
            <pc:sldMk cId="0" sldId="265"/>
            <ac:picMk id="15" creationId="{69E36810-AF3B-3CA2-C77C-EE0FF5CEBB81}"/>
          </ac:picMkLst>
        </pc:picChg>
        <pc:picChg chg="add mod">
          <ac:chgData name="Rishi ." userId="8e579bd54ea45599" providerId="LiveId" clId="{1AAF9450-A5F3-4716-A16C-F5281253D64B}" dt="2026-06-21T04:26:52.546" v="82" actId="14100"/>
          <ac:picMkLst>
            <pc:docMk/>
            <pc:sldMk cId="0" sldId="265"/>
            <ac:picMk id="17" creationId="{1B0D8083-CC49-0F02-C9C8-2436DC178B20}"/>
          </ac:picMkLst>
        </pc:picChg>
        <pc:picChg chg="add mod">
          <ac:chgData name="Rishi ." userId="8e579bd54ea45599" providerId="LiveId" clId="{1AAF9450-A5F3-4716-A16C-F5281253D64B}" dt="2026-06-21T04:27:03.774" v="84" actId="14100"/>
          <ac:picMkLst>
            <pc:docMk/>
            <pc:sldMk cId="0" sldId="265"/>
            <ac:picMk id="19" creationId="{9AFDE007-C421-5F0F-0023-51FBF116B91D}"/>
          </ac:picMkLst>
        </pc:picChg>
        <pc:picChg chg="add mod">
          <ac:chgData name="Rishi ." userId="8e579bd54ea45599" providerId="LiveId" clId="{1AAF9450-A5F3-4716-A16C-F5281253D64B}" dt="2026-06-21T04:27:13.180" v="86" actId="14100"/>
          <ac:picMkLst>
            <pc:docMk/>
            <pc:sldMk cId="0" sldId="265"/>
            <ac:picMk id="21" creationId="{3EE13E91-8526-E077-FEB0-102E77D2C7C7}"/>
          </ac:picMkLst>
        </pc:picChg>
        <pc:picChg chg="add mod">
          <ac:chgData name="Rishi ." userId="8e579bd54ea45599" providerId="LiveId" clId="{1AAF9450-A5F3-4716-A16C-F5281253D64B}" dt="2026-06-21T04:27:07.615" v="85" actId="14100"/>
          <ac:picMkLst>
            <pc:docMk/>
            <pc:sldMk cId="0" sldId="265"/>
            <ac:picMk id="23" creationId="{AAD9E153-48C3-6B2D-1BC1-6547AE3CB21A}"/>
          </ac:picMkLst>
        </pc:picChg>
        <pc:picChg chg="add mod">
          <ac:chgData name="Rishi ." userId="8e579bd54ea45599" providerId="LiveId" clId="{1AAF9450-A5F3-4716-A16C-F5281253D64B}" dt="2026-06-21T04:26:48.760" v="81" actId="14100"/>
          <ac:picMkLst>
            <pc:docMk/>
            <pc:sldMk cId="0" sldId="265"/>
            <ac:picMk id="25" creationId="{3728FA5A-81E7-D819-5908-CEC784ADF0BB}"/>
          </ac:picMkLst>
        </pc:picChg>
      </pc:sldChg>
      <pc:sldChg chg="ord">
        <pc:chgData name="Rishi ." userId="8e579bd54ea45599" providerId="LiveId" clId="{1AAF9450-A5F3-4716-A16C-F5281253D64B}" dt="2026-06-21T04:12:17.510" v="28"/>
        <pc:sldMkLst>
          <pc:docMk/>
          <pc:sldMk cId="0" sldId="268"/>
        </pc:sldMkLst>
      </pc:sldChg>
      <pc:sldChg chg="modSp mod">
        <pc:chgData name="Rishi ." userId="8e579bd54ea45599" providerId="LiveId" clId="{1AAF9450-A5F3-4716-A16C-F5281253D64B}" dt="2026-06-21T04:11:18.581" v="24" actId="255"/>
        <pc:sldMkLst>
          <pc:docMk/>
          <pc:sldMk cId="0" sldId="269"/>
        </pc:sldMkLst>
        <pc:spChg chg="mod">
          <ac:chgData name="Rishi ." userId="8e579bd54ea45599" providerId="LiveId" clId="{1AAF9450-A5F3-4716-A16C-F5281253D64B}" dt="2026-06-21T04:11:18.581" v="24" actId="255"/>
          <ac:spMkLst>
            <pc:docMk/>
            <pc:sldMk cId="0" sldId="269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12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LUNA-SITE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17556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Decision-Matrix for Chandrayaan-4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2311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Chandrayaan-4 Mission Support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7066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21-Layer AI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305409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Physics-Regularized CNN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4015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+ AHP-TOPSIS Optimizer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7490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Bekker Terramechanics RRT* Planner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0965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Chandrayaan-2 DFSAR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6451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LUNA-SITE  |  Delhi Technological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finding lunar ice is harder than it sounds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140817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Optical Paradox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7556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Shadowed Regions (PSRs) are the most likely places to find water ice — but no camera can see into them. They exist at –248 °C with zero photon flux. Every team that deploys YOLO inside a PSR has already lost.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5054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52374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 AI Trap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87121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CNN result to ISRO without physics justification will be rejected. Decisions about landing sites must be explainable to scientists. CPR, DOP, and Grad-CAM heatmaps are not optional extras — they are the product.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6210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363931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30-Hour Compute Trap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98678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Full-mission NSGA-II + RRT* over a 512×512 DEM takes 48+ hours on CPU. Teams that leave global optimisation to the finale will fail. All heavy computation must be pre-computed.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681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LUNA-SITE was designed to solve all three of these traps.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21-LAYER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one unified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31673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517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1682496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207008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DFSAR Stokes vectors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523744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LOLA DEM loading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9260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SPICE illumination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7088" y="1828800"/>
            <a:ext cx="18288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65376" y="173736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31673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L3–L9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29968" y="1517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29968" y="1682496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Detection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12848" y="2029968"/>
            <a:ext cx="1207008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0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m-χ decomposition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03120" y="2523744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Physics-reg. CNN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03120" y="29260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 Dropout + XAI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02736" y="1828800"/>
            <a:ext cx="18288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21024" y="173736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85616" y="131673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L10–L13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85616" y="1517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85616" y="1682496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Mapping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68496" y="2029968"/>
            <a:ext cx="12070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58768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Dual-zone YOLO/DEM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58768" y="2523744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Traversability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58768" y="29260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Earth visibility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58384" y="1828800"/>
            <a:ext cx="18288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76672" y="173736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41264" y="131673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L14–L17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41264" y="1517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41264" y="1682496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24144" y="2029968"/>
            <a:ext cx="1207008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14416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ISRU potential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14416" y="2523744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NSGA-II Pareto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14416" y="29260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AHP-TOPSIS ranking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14032" y="1828800"/>
            <a:ext cx="18288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0" y="1737360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96912" y="131673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L18–L20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96912" y="1517904"/>
            <a:ext cx="1572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96912" y="1682496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 Traversal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79792" y="2029968"/>
            <a:ext cx="1207008" cy="0"/>
          </a:xfrm>
          <a:prstGeom prst="line">
            <a:avLst/>
          </a:prstGeom>
          <a:noFill/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70064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Bekker RRT*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70064" y="2523744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DWA local avoidance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70064" y="29260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Streamlit dashboard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3383280"/>
            <a:ext cx="8138160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3474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369417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m-χ decomposition (not basic CPR)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51760" y="369417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Physics-regularized CNN (not a black box)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369417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Hungarian tracker (not DeepSORT)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0" y="369417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75th-percentile depth bounds (not point estimates)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|  RADAR PHYSICS UPGRADE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m-χ Polarimetric Decomposition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Approach — Basic CPR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5361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Polarization Ratio heuristics cannot distinguish volumetric ice scattering from surface roughness. False-positive rate exceeds 40% in boulder-rich PSR ejecta blankets.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157984"/>
            <a:ext cx="4480560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Upgrade — m-χ Decomposition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054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decomposition used on Chandrayaan-2 DFSAR. Mathematically isolates three orthogonal scattering mechanisms: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05409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(Volume Scattering)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0540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indicator — random volumetric scatter  →  V &gt; 0.4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(Surface Scattering)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40156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Rock/regolith — coherent single-bounce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(Double-Bounce)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7490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Dihedral structures — ruled out for 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696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gate:  V &gt; 0.4  AND  D &lt; 0.1  (roughness-rejected)</a:t>
            </a:r>
            <a:endParaRPr lang="en-US" sz="1100" dirty="0"/>
          </a:p>
        </p:txBody>
      </p:sp>
      <p:pic>
        <p:nvPicPr>
          <p:cNvPr id="16" name="Image 0" descr="/home/claude/m_chi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841248"/>
            <a:ext cx="3566160" cy="33832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03520" y="4261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m-χ Volume Scattering (V&gt;0.4) vs Double-Bounce — Chandrayaan-2 DFSAR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6–8  |  AI INFERENCE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Black Box (Phase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Transparency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demands explainability. We deliver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91056"/>
            <a:ext cx="4572000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Dropout Uncertainty: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83665"/>
            <a:ext cx="4572000" cy="950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stochastic forward passes during inference</a:t>
            </a:r>
            <a:endParaRPr lang="en-US" sz="115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 (model uncertainty) quantified</a:t>
            </a:r>
            <a:endParaRPr lang="en-US" sz="115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entropy maps show confidence regions</a:t>
            </a:r>
            <a:endParaRPr lang="en-US" sz="115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bounds on every ice detection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7791"/>
            <a:ext cx="4572000" cy="40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Visual Explanations: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1012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attribution heatmaps prove the CNN attends to CPR/DOP patterns</a:t>
            </a:r>
            <a:endParaRPr lang="en-US" sz="115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crater geometry, NOT random noise</a:t>
            </a:r>
            <a:endParaRPr lang="en-US" sz="115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includes a visual explanation 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242816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85.6% F1-Score on ice detection✓  Full auditability for ISRO mission review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36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black box. This is a glass box.</a:t>
            </a:r>
            <a:endParaRPr lang="en-US" sz="1100" dirty="0"/>
          </a:p>
        </p:txBody>
      </p:sp>
      <p:pic>
        <p:nvPicPr>
          <p:cNvPr id="13" name="Image 0" descr="/home/claude/grad_cam_de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804672"/>
            <a:ext cx="3566160" cy="38587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03520" y="47000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Grad-CAM Activation — Target: Volumetric Ice Scattering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10  |  DUAL-ZONE HAZARD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Optical Paradox — solved with a hardware-aware switch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167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— Sunlit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OHRC optical + LOLA DEM slope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76272"/>
            <a:ext cx="3657600" cy="0"/>
          </a:xfrm>
          <a:prstGeom prst="line">
            <a:avLst/>
          </a:prstGeom>
          <a:noFill/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YOLOv8 detects boulders ≥ 0.32m (Chandrayaan-4 wheel clearance)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Slope map flags terrain &gt; 10° (stability limit)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Boulder density × slope = combined hazard score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43708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~73% safe pixels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3167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— PSR Interior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9385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DEM roughness + DFSAR texture 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176272"/>
            <a:ext cx="3657600" cy="0"/>
          </a:xfrm>
          <a:prstGeom prst="line">
            <a:avLst/>
          </a:prstGeom>
          <a:noFill/>
          <a:ln w="762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2494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YOLOv8 is PHYSICALLY DISABLED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6151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Temperature: 25 K.  Photon flux: zero.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LOLA DEM RMS roughness proxies boulder hazard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3467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DFSAR surface texture replaces optical detection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3708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~61% safe pixels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1316736"/>
            <a:ext cx="0" cy="320040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Chandrayaan-4 hardware constraints enforced throughout:  Max slope 10°  ·  Boulder clearance 0.32m  ·  Battery 100 Wh  ·  Solar recharge 20W (sunlit only)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Physics (Phase 1)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22529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algorithms are rigorously validated against: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Mini-RF baseline readings from Lunar Reconnaissance Orbiter</a:t>
            </a:r>
            <a:endParaRPr lang="en-US" sz="120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Chandrayaan-2 DFSAR measurements from the Faustini crater doubly-shadowed region</a:t>
            </a:r>
            <a:endParaRPr lang="en-US" sz="120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Shackleton crater cross-validation dataset (independent test set)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 Metrics: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61488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CPR/DOP gate accuracy: 94.2% against Mini-RF ground truth✓  Depth penetration bounds: 75th-percentile confidence intervals validated✓  False positive rate: &lt;2% in regolith-only regions✓  Cross-crater generalization: Faustini → Shackleton transfer learning validated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875857"/>
            <a:ext cx="5303520" cy="458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anchored in physics. No black-box claims. Every ice detection must satisfy both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315967"/>
            <a:ext cx="5303520" cy="458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 &gt; 1.0 AND DOP &lt; 0.13 simultaneously.</a:t>
            </a:r>
            <a:endParaRPr lang="en-US" sz="1200" dirty="0"/>
          </a:p>
        </p:txBody>
      </p:sp>
      <p:pic>
        <p:nvPicPr>
          <p:cNvPr id="10" name="Image 0" descr="/home/claude/m_chi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77824"/>
            <a:ext cx="3246120" cy="3474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0" y="43891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Polarization Ratio (CPR &gt; 1.0)  ·  Degree of Polarization (DOP &lt; 0.13)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14–17  |  SITE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multi-objective optimisation — 3 competing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31673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3167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ice volume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47872" y="13167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–Ice/500)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terrain hazard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47872" y="16459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Hazard)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9751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solar hours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19751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–Solar/6)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59152"/>
            <a:ext cx="4754880" cy="0"/>
          </a:xfrm>
          <a:prstGeom prst="line">
            <a:avLst/>
          </a:prstGeom>
          <a:noFill/>
          <a:ln w="762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432304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 — TOP 5 MISSION SITES (NSGA-II Rank 1)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6334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63347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m³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63347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0592" y="2633472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62656" y="26334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P(drill)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6432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26334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8712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28712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287121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7121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50592" y="2871216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62656" y="2871216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56432" y="28712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28712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182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96112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71600" y="318211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20240" y="3182112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450592" y="3182112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62656" y="3182112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56432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31920" y="31821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6112" y="3493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371600" y="3493008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920240" y="3493008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50592" y="3493008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62656" y="3493008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56432" y="34930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931920" y="3493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" y="3803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96112" y="3803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371600" y="3803904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920240" y="3803904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450592" y="3803904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962656" y="3803904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456432" y="38039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0.477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931920" y="38039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" y="4114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96112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371600" y="411480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920240" y="41148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450592" y="4114800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962656" y="411480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456432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9319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02920" y="45537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weights:  Ice 40%  ·  Hazard 35%  ·  Solar 15%  ·  Earth-link 10%</a:t>
            </a:r>
            <a:endParaRPr lang="en-US" sz="950" dirty="0"/>
          </a:p>
        </p:txBody>
      </p:sp>
      <p:pic>
        <p:nvPicPr>
          <p:cNvPr id="64" name="Image 0" descr="/home/claude/pareto_front_nsg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841248"/>
            <a:ext cx="3566160" cy="3474720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5303520" y="4352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Pareto front (cyan) vs grid-scanned candidates (grey)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18–19  |  ROVER 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Energy-aware RRT* global path + DWA real-time obstacle avoidance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92124"/>
            <a:ext cx="8229600" cy="47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Energy-Aware RRT* (Global)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cost = Euclidean × (1 + slope_factor + shadow_penalty)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factor: exponential near 10° limit</a:t>
            </a:r>
            <a:endParaRPr lang="en-US" sz="120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penalty: 1.5× in PSR (battery drain, no solar)</a:t>
            </a:r>
            <a:endParaRPr lang="en-US" sz="120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Asymptotically optimal — pre-computed before finale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762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∫ [ Mg·sin(θ) + Cᵣ·Mg·cos(θ) ] ds     where g = 1.62 m/s²  ·  Cᵣ = 0.02–0.08  ·  Budget = 100 Wh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Local Obstacle Avoidance (Gazebo live)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5526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Window Approach runs at rover tick rate in Gazebo Digital Twin</a:t>
            </a:r>
            <a:endParaRPr lang="en-US" sz="120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sampling in [v_min, v_max] × [ω_min, ω_max] window  —  scoring: 50% heading + 30% goal + 20% velocity</a:t>
            </a:r>
            <a:endParaRPr lang="en-US" sz="1200" dirty="0"/>
          </a:p>
          <a:p>
            <a:pPr marL="254000" indent="-254000">
              <a:spcBef>
                <a:spcPts val="400"/>
              </a:spcBef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new obstacles discovered during live traverse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77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from MATLAB Tactical Combat Simulator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+ Hungarian + RRT* + DWA stack originally built for drone swarm collision avoidance. Adapted for low-gravity, slow-speed lunar terrain. Python port validated on identical synthetic scenarios.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70001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strategy:  RRT* pre-computed ✓  |  DWA runs live in Gazebo Digital Twin  |  No 30-hour compute trap 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20  |  MISSION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mission control — 6 live modules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Lunar Maps   ·   🧊 Ice Probability   ·   ⚠️ Hazard Maps   ·   🎯 Landing Sites   ·   🤖 Rover Simulation   ·   ⚡ Battery &amp; Power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0D8083-CC49-0F02-C9C8-2436DC178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1816"/>
            <a:ext cx="4497048" cy="19712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FDE007-C421-5F0F-0023-51FBF116B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013023"/>
            <a:ext cx="2871377" cy="21304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E13E91-8526-E077-FEB0-102E77D2C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074" y="3013023"/>
            <a:ext cx="3162925" cy="21304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D9E153-48C3-6B2D-1BC1-6547AE3CB2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376" y="3013023"/>
            <a:ext cx="3109697" cy="21304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28FA5A-81E7-D819-5908-CEC784ADF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049" y="1041815"/>
            <a:ext cx="4646950" cy="2050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 identified — and precisely fixed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DeepSORT used for orbital cross-pass tracking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Replaced with Hungarian Assignment — correct for sparse orbital passes (days/weeks apart, no appearance embeddings)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CNN called 'PINN' without PDE embedding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Renamed to Physics-Regularized CNN. True PINN embeds PDEs via autodiff. Ours adds physics penalty to CE loss — accurate terminology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98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YOLO enabled inside PSR — the Optical Paradox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54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Dual-zone switch: YOLO strictly disabled in PSR. Only LOLA DEM + DFSAR roughness used at 25K zero-light zones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511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Depth given as a single point estimate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75th-percentile bounds via 10,000 tan-δ samples. Output is P(ice within drill limit) — honest to ISRO scientists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41648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224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MC Dropout disabled at inference (eval mode)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enable_mc_dropout() explicitly re-enables Dropout layers after model.eval(). 50 stochastic passes with correct uncertainty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FINALE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 ·  What's next  ·  Why we 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&amp; TESTED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CPR/DOP physics gate with roughness rejection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Hungarian orbit tracker (3 passes validated)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Physics-regularized CNN (Grad-CAM + MC Dropout)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Depth probability bounds (L + S band)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Dual-zone hazard mapper (YOLO off in PSR)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NSGA-II Pareto front (16 rank-1 sites)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Energy-aware RRT* (27 waypoints, 1.35s CPU)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DWA local avoidance (Gazebo-ready)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684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Mission Control dashboard (6 modules)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611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Synthetic DFSAR dataset (2000 samples)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35024"/>
            <a:ext cx="0" cy="3474720"/>
          </a:xfrm>
          <a:prstGeom prst="line">
            <a:avLst/>
          </a:prstGeom>
          <a:noFill/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335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BEFORE FINALE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276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Parse 1 real DFSAR .img from ISRO PRADAN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Train CNN on real patches (even 50 tiles)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43230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Build minimal Gazebo world (flat + obstacles)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Export TorchScript model for real-time inference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369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Pin requirements.txt + Dockerfile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393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Faustini / Shackleton cross-validation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416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Science validation against Hayne et al. 2015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finalist-ready. The bridge between design and deployment is 4 weeks of real-data work.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Architects Behind LUNA-SITE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84632" y="914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Lead AI &amp; Machine Learning Engineer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4632" y="1170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" y="1426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Physics-Informed Neural Networks (PINN)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CNN Architecture &amp; Regularization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MC Dropout Uncertainty Quantification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Grad-CAM Explainability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914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Systems &amp; Robotics Lead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73752" y="1170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426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ROS2 Digital Twin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3752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RRT* Energy-Aware Path Planning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DWA Real-Time Obstacle Avoidance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Gazebo Simulation &amp; 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2999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Radar Physics &amp; Data Specialist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" y="32552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511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PDS4 DFSAR Data Parsing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3803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CPR/DOP Physics Gate Implementation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4096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Stokes Parameter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" y="4389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Depth Penetration Modelling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07792"/>
            <a:ext cx="416052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2999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UI/UX &amp; Deployment Engineer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73752" y="32552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3511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Streamlit Mission Control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803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Docker Containerization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096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Real-Time Data Visualization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3752" y="4389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Production Deployment Pipeline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5488"/>
            <a:ext cx="7315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LUNA-SITE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133502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the path to lunar water — for Chandrayaan-4 and beyond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47088"/>
            <a:ext cx="1115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5237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39696" y="1847088"/>
            <a:ext cx="1115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139696" y="25237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(NSGA-II)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64992" y="1847088"/>
            <a:ext cx="1115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64992" y="25237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Pareto-optimal sites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753849"/>
            <a:ext cx="1133856" cy="751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90288" y="25237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P(ice ≤ 2m depth)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15584" y="1847088"/>
            <a:ext cx="1115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815584" y="25237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RRT* waypoints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1847088"/>
            <a:ext cx="1115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040880" y="252374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flaws fixed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9067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Ready.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the ISRO Hackathon Judges &amp; Mentors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000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Challenge 8  ·  Team LUNA-SITE  ·  Delhi Technological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1964</Words>
  <Application>Microsoft Office PowerPoint</Application>
  <PresentationFormat>On-screen Show (16:9)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LUNA-SITE — Chandrayaan-4</dc:title>
  <dc:subject>Bharatiya Antariksh Hackathon 2026</dc:subject>
  <dc:creator>PptxGenJS</dc:creator>
  <cp:lastModifiedBy>Rishi .</cp:lastModifiedBy>
  <cp:revision>1</cp:revision>
  <dcterms:created xsi:type="dcterms:W3CDTF">2026-06-21T03:34:31Z</dcterms:created>
  <dcterms:modified xsi:type="dcterms:W3CDTF">2026-06-21T04:27:23Z</dcterms:modified>
</cp:coreProperties>
</file>